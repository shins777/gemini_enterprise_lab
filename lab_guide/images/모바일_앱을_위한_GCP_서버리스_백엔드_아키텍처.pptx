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25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38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42.png"/><Relationship Id="rId7" Type="http://schemas.openxmlformats.org/officeDocument/2006/relationships/image" Target="../media/image50.png"/><Relationship Id="rId8" Type="http://schemas.openxmlformats.org/officeDocument/2006/relationships/image" Target="../media/image28.png"/><Relationship Id="rId9" Type="http://schemas.openxmlformats.org/officeDocument/2006/relationships/image" Target="../media/image5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26.png"/><Relationship Id="rId4" Type="http://schemas.openxmlformats.org/officeDocument/2006/relationships/image" Target="../media/image34.png"/><Relationship Id="rId5" Type="http://schemas.openxmlformats.org/officeDocument/2006/relationships/image" Target="../media/image42.png"/><Relationship Id="rId6" Type="http://schemas.openxmlformats.org/officeDocument/2006/relationships/image" Target="../media/image25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hyperlink" Target="https://docs.cloud.google.com/architecture/blueprints/serverless-blueprint" TargetMode="External"/><Relationship Id="rId5" Type="http://schemas.openxmlformats.org/officeDocument/2006/relationships/hyperlink" Target="https://docs.cloud.google.com/static/architecture/blueprints/images/serverless-blueprint/serverless-blueprint-architecture.sv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972175"/>
            <a:ext cx="11277600" cy="428625"/>
          </a:xfrm>
          <a:prstGeom prst="roundRect">
            <a:avLst/>
          </a:prstGeom>
          <a:noFill/>
          <a:ln w="9525">
            <a:solidFill>
              <a:srgbClr val="1E293B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48800" y="-914400"/>
            <a:ext cx="3657600" cy="3657600"/>
          </a:xfrm>
          <a:prstGeom prst="roundRect">
            <a:avLst/>
          </a:prstGeom>
          <a:solidFill>
            <a:srgbClr val="2563E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914400" y="4114800"/>
            <a:ext cx="3657600" cy="3657600"/>
          </a:xfrm>
          <a:prstGeom prst="roundRect">
            <a:avLst/>
          </a:prstGeom>
          <a:solidFill>
            <a:srgbClr val="4F46E5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244822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6322" y="495300"/>
            <a:ext cx="285184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60A5FA"/>
                </a:solidFill>
                <a:latin typeface="Inter"/>
              </a:rPr>
              <a:t>GOOGLE CLOUD ARCHITECTURE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52675"/>
            <a:ext cx="11734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3600" b="1" i="0" u="none">
                <a:solidFill>
                  <a:srgbClr val="FFFFFF"/>
                </a:solidFill>
                <a:latin typeface="Inter"/>
              </a:rPr>
              <a:t>모바일 앱을 위한</a:t>
            </a:r>
            <a:r>
              <a:t>
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24275"/>
            <a:ext cx="640080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초고속 오토스케일링 및 초당 수천 건의 실시간 행동 로그 수집·분석 파이프라인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173" y="6229350"/>
            <a:ext cx="192062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4748B"/>
                </a:solidFill>
                <a:latin typeface="ui-monospace"/>
              </a:rPr>
              <a:t>ExploreAI Solution Blueprint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4175"/>
            <a:ext cx="6130379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3600" b="1" i="0" u="none">
                <a:solidFill>
                  <a:srgbClr val="60A5FA"/>
                </a:solidFill>
                <a:latin typeface="Inter"/>
              </a:rPr>
              <a:t>GCP 서버리스 백엔드 아키텍처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6210300"/>
            <a:ext cx="1190625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Auto-scaling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6475" y="6210300"/>
            <a:ext cx="1114425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Real-time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9050" y="6210300"/>
            <a:ext cx="104775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100% Serverless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238875"/>
            <a:ext cx="11430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6925" y="6238875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0" y="6238875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3281362"/>
            <a:ext cx="5219700" cy="2381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3281362"/>
            <a:ext cx="5219700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962650"/>
            <a:ext cx="5219700" cy="238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5962650"/>
            <a:ext cx="5219700" cy="238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1428750"/>
            <a:ext cx="476250" cy="5524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1000" y="1228725"/>
            <a:ext cx="5619750" cy="2490787"/>
          </a:xfrm>
          <a:prstGeom prst="roundRect">
            <a:avLst>
              <a:gd name="adj" fmla="val 4588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1228725"/>
            <a:ext cx="5619750" cy="2490787"/>
          </a:xfrm>
          <a:prstGeom prst="roundRect">
            <a:avLst>
              <a:gd name="adj" fmla="val 4588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1000" y="3910012"/>
            <a:ext cx="5619750" cy="2490787"/>
          </a:xfrm>
          <a:prstGeom prst="roundRect">
            <a:avLst>
              <a:gd name="adj" fmla="val 4588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1250" y="3910012"/>
            <a:ext cx="5619750" cy="2490787"/>
          </a:xfrm>
          <a:prstGeom prst="roundRect">
            <a:avLst>
              <a:gd name="adj" fmla="val 4588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000" y="381000"/>
            <a:ext cx="4619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0A5FA"/>
                </a:solidFill>
                <a:latin typeface="Inter"/>
              </a:rPr>
              <a:t>01. Key Requirements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5250" y="514350"/>
            <a:ext cx="28575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1000" y="647700"/>
            <a:ext cx="485060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핵심 설계 요구사항 및 아키텍처 목표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275" y="1428750"/>
            <a:ext cx="447675" cy="552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4110037"/>
            <a:ext cx="476250" cy="552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4110037"/>
            <a:ext cx="476250" cy="552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09675" y="1428750"/>
            <a:ext cx="482060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CD34D"/>
                </a:solidFill>
                <a:latin typeface="Inter"/>
              </a:rPr>
              <a:t>10배+ 트래픽 스파이크 대응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9675" y="1771650"/>
            <a:ext cx="4591050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6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이벤트 및 프로모션 시 평소 대비 10배 이상의 급격한 트래픽 증가에 동적으로 대응할 수 있는 강력한 Auto-scaling 구조 구현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1552575"/>
            <a:ext cx="200025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91350" y="1428750"/>
            <a:ext cx="485060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67E8F9"/>
                </a:solidFill>
                <a:latin typeface="Inter"/>
              </a:rPr>
              <a:t>실시간 로그 수집/분석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1350" y="1771650"/>
            <a:ext cx="4619625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6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사용자의 행동 로그를 초당 수천 건 단위로 유실 없이 실시간 수집하고, 지연 없는 스트리밍 분석 환경 구축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4233862"/>
            <a:ext cx="2286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09675" y="4110037"/>
            <a:ext cx="482060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A5B4FC"/>
                </a:solidFill>
                <a:latin typeface="Inter"/>
              </a:rPr>
              <a:t>완전 관리형 (Serverless-first)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9675" y="4452937"/>
            <a:ext cx="4591050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6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운영 인력 부족을 극복하기 위해 인프라 관리, 패치, 프로비저닝 부담이 전혀 없는 100% 완전 관리형 서비스 채택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5100" y="4233862"/>
            <a:ext cx="228600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19925" y="4110037"/>
            <a:ext cx="482060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6EE7B7"/>
                </a:solidFill>
                <a:latin typeface="Inter"/>
              </a:rPr>
              <a:t>비용 최적화 (Pay-as-you-go)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9925" y="4452937"/>
            <a:ext cx="4591050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6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초기 소규모 트래픽 시 고정 비용을 최소화(Scale-to-Zero)하고, 실제 사용량에 비례하는 효율적 과금 모델 확보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14425"/>
            <a:ext cx="5680174" cy="53244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99" y="1276350"/>
            <a:ext cx="22860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99" y="3567112"/>
            <a:ext cx="257175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499" y="5705475"/>
            <a:ext cx="266700" cy="419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506075" y="466725"/>
            <a:ext cx="1381125" cy="24765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3574" y="1114425"/>
            <a:ext cx="5673625" cy="895350"/>
          </a:xfrm>
          <a:prstGeom prst="roundRect">
            <a:avLst>
              <a:gd name="adj" fmla="val 12765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3574" y="3405187"/>
            <a:ext cx="5673625" cy="742950"/>
          </a:xfrm>
          <a:prstGeom prst="roundRect">
            <a:avLst>
              <a:gd name="adj" fmla="val 15384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3574" y="5543550"/>
            <a:ext cx="5673625" cy="895350"/>
          </a:xfrm>
          <a:prstGeom prst="roundRect">
            <a:avLst>
              <a:gd name="adj" fmla="val 12765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" y="304800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0A5FA"/>
                </a:solidFill>
                <a:latin typeface="Inter"/>
              </a:rPr>
              <a:t>02. Architecture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06075" y="466725"/>
            <a:ext cx="1381125" cy="24765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20375" y="504825"/>
            <a:ext cx="11525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93C5FD"/>
                </a:solidFill>
                <a:latin typeface="Inter"/>
              </a:rPr>
              <a:t>End-to-End Blueprint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571500"/>
            <a:ext cx="36004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 i="0" u="none">
                <a:solidFill>
                  <a:srgbClr val="FFFFFF"/>
                </a:solidFill>
                <a:latin typeface="Inter"/>
              </a:rPr>
              <a:t>GCP 서버리스 전체 아키텍처 구조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1966912"/>
            <a:ext cx="5356324" cy="3619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18399" y="1276350"/>
            <a:ext cx="52572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3C5FD"/>
                </a:solidFill>
                <a:latin typeface="Inter"/>
              </a:rPr>
              <a:t>API &amp; 컴퓨팅 레이어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8399" y="1543050"/>
            <a:ext cx="5006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API Gateway로 트래픽 라우팅 후 Cloud Run에서 애플리케이션 로직을 실행. 트래픽에 맞춰 0~N개 인스턴스 자동 확장.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974" y="3567112"/>
            <a:ext cx="507063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D8B4FE"/>
                </a:solidFill>
                <a:latin typeface="Inter"/>
              </a:rPr>
              <a:t>트랜잭션 데이터 스토리지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6974" y="3833812"/>
            <a:ext cx="4829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Cloud Firestore NoSQL DB를 사용하여 사용자 프로필 및 상태 데이터를 실시간 동기화 및 저장.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6499" y="5705475"/>
            <a:ext cx="52172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67E8F9"/>
                </a:solidFill>
                <a:latin typeface="Inter"/>
              </a:rPr>
              <a:t>실시간 로그 수집 &amp;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6499" y="5972175"/>
            <a:ext cx="49687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Pub/Sub 메시지 버퍼 -&gt; Dataflow 스트리밍 파이프라인 -&gt; BigQuery 데이터 웨어하우스로 초당 수천 건 실시간 저장.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5762625"/>
            <a:ext cx="5124450" cy="400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5762625"/>
            <a:ext cx="5124450" cy="4000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81000" y="1228725"/>
            <a:ext cx="5600700" cy="5172075"/>
          </a:xfrm>
          <a:prstGeom prst="roundRect">
            <a:avLst>
              <a:gd name="adj" fmla="val 2946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1228725"/>
            <a:ext cx="5600700" cy="5172075"/>
          </a:xfrm>
          <a:prstGeom prst="roundRect">
            <a:avLst>
              <a:gd name="adj" fmla="val 2946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381000"/>
            <a:ext cx="43910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0A5FA"/>
                </a:solidFill>
                <a:latin typeface="Inter"/>
              </a:rPr>
              <a:t>03. API &amp; Compute Layer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0" y="514350"/>
            <a:ext cx="28575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000" y="647700"/>
            <a:ext cx="461057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API &amp; 애플리케이션 컴퓨팅 레이어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466850"/>
            <a:ext cx="485775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9200" y="1485900"/>
            <a:ext cx="1714797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0A5FA"/>
                </a:solidFill>
                <a:latin typeface="Inter"/>
              </a:rPr>
              <a:t>Managed Container Compute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1466850"/>
            <a:ext cx="514350" cy="53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77075" y="1485900"/>
            <a:ext cx="1905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18CF8"/>
                </a:solidFill>
                <a:latin typeface="Inter"/>
              </a:rPr>
              <a:t>Secure API Front-door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1609725"/>
            <a:ext cx="25717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9200" y="1485900"/>
            <a:ext cx="180053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Google Cloud Run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2190750"/>
            <a:ext cx="133350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8675" y="21526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초고속 오토스케일링: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트래픽 스파이크 시 몇 초 내에 인스턴스 자동 증설 (0 to Thousands)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2686050"/>
            <a:ext cx="133350" cy="133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8675" y="26479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컨테이너 자유도: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Docker 컨테이너 기반으로 선호하는 언어/프레임워크(Node.js, Go, Python 등) 자유 선택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3181350"/>
            <a:ext cx="133350" cy="133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8675" y="3143250"/>
            <a:ext cx="4648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Scale-to-Zero: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요청이 없을 때는 인스턴스를 0으로 줄여 유휴 비용 완벽 차단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2725" y="1609725"/>
            <a:ext cx="28575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77075" y="1485900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Google API Gateway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2190750"/>
            <a:ext cx="133350" cy="133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57975" y="21526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통합 엔드포인트: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클라이언트의 API 요청을 단일 Gateway에서 수신하여 적절한 서비스로 라우팅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2686050"/>
            <a:ext cx="133350" cy="1333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57975" y="26479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보안 및 인증 연동: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Firebase Auth 및 API 키 검증, CORS 처리 및 Rate Limiting을 프론트 엔드에서 사전 처리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3181350"/>
            <a:ext cx="133350" cy="1333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57975" y="31432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완전 관리형 Gateway: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자체 API Gateway 인프라 구축 없이 구글 관리형 서비스로 안정성 확보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5762625"/>
            <a:ext cx="5124450" cy="400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5762625"/>
            <a:ext cx="5124450" cy="4000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81000" y="1228725"/>
            <a:ext cx="5600700" cy="5172075"/>
          </a:xfrm>
          <a:prstGeom prst="roundRect">
            <a:avLst>
              <a:gd name="adj" fmla="val 2946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1228725"/>
            <a:ext cx="5600700" cy="5172075"/>
          </a:xfrm>
          <a:prstGeom prst="roundRect">
            <a:avLst>
              <a:gd name="adj" fmla="val 2946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381000"/>
            <a:ext cx="4114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0A5FA"/>
                </a:solidFill>
                <a:latin typeface="Inter"/>
              </a:rPr>
              <a:t>04. Data &amp; Storage Layer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3350" y="514350"/>
            <a:ext cx="24765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000" y="647700"/>
            <a:ext cx="4320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데이터베이스 &amp; 스토리지 레이어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466850"/>
            <a:ext cx="428625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50" y="1485900"/>
            <a:ext cx="1920626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4D399"/>
                </a:solidFill>
                <a:latin typeface="Inter"/>
              </a:rPr>
              <a:t>Serverless NoSQL Document DB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1466850"/>
            <a:ext cx="485775" cy="53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48500" y="1485900"/>
            <a:ext cx="19431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22D3EE"/>
                </a:solidFill>
                <a:latin typeface="Inter"/>
              </a:rPr>
              <a:t>Scalable Object Storage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1609725"/>
            <a:ext cx="20002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62050" y="1485900"/>
            <a:ext cx="201665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Cloud Firestore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2190750"/>
            <a:ext cx="133350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8675" y="21526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실시간 데이터 동기화: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클라이언트 앱과 실시간 데이터 수신 및 오프라인 데이터 지원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2686050"/>
            <a:ext cx="133350" cy="133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8675" y="26479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무제한 자동 확장: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수백만 동시 연결 사용자 트래픽 처리 가능, 샤딩/레플리카 복제 자동화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3181350"/>
            <a:ext cx="133350" cy="133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8675" y="3143250"/>
            <a:ext cx="4524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유연한 데이터 모델: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유저 프로필, 앱 설정, 실시간 알림 데이터 저장에 최적화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2725" y="1609725"/>
            <a:ext cx="257175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8500" y="1485900"/>
            <a:ext cx="204025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Cloud Storage (GCS)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2190750"/>
            <a:ext cx="133350" cy="133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57975" y="2152650"/>
            <a:ext cx="4819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미디어 &amp; 파일 저장: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사용자 프로필 이미지, 앱 미디어, 로그 백업 파일 전용 저장소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2495550"/>
            <a:ext cx="133350" cy="1333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57975" y="24574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글로벌 Cloud CDN 연동: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정적 미디어 콘텐츠를 전 세계 edge 위치에서 고속 캐싱 전달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2990850"/>
            <a:ext cx="133350" cy="1333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57975" y="2952750"/>
            <a:ext cx="4848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높은 내구성 &amp; 보안: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99.999999999% (11 9s) 데이터 내구성 제공 및 액세스 제어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5762625"/>
            <a:ext cx="5124450" cy="400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5762625"/>
            <a:ext cx="5124450" cy="4000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81000" y="1228725"/>
            <a:ext cx="5600700" cy="5172075"/>
          </a:xfrm>
          <a:prstGeom prst="roundRect">
            <a:avLst>
              <a:gd name="adj" fmla="val 2946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1228725"/>
            <a:ext cx="5600700" cy="5172075"/>
          </a:xfrm>
          <a:prstGeom prst="roundRect">
            <a:avLst>
              <a:gd name="adj" fmla="val 2946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381000"/>
            <a:ext cx="4267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0A5FA"/>
                </a:solidFill>
                <a:latin typeface="Inter"/>
              </a:rPr>
              <a:t>05. Real-time Ingestion Pipeline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0" y="514350"/>
            <a:ext cx="28575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000" y="647700"/>
            <a:ext cx="4480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실시간 행동 로그 수집 파이프라인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466850"/>
            <a:ext cx="4572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90625" y="1485900"/>
            <a:ext cx="212407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22D3EE"/>
                </a:solidFill>
                <a:latin typeface="Inter"/>
              </a:rPr>
              <a:t>Real-time Messaging Buffer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1466850"/>
            <a:ext cx="457200" cy="53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19925" y="1485900"/>
            <a:ext cx="21526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084FC"/>
                </a:solidFill>
                <a:latin typeface="Inter"/>
              </a:rPr>
              <a:t>Stream Processing Engine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609725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90625" y="1485900"/>
            <a:ext cx="223027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Google Cloud Pub/Sub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2190750"/>
            <a:ext cx="133350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8675" y="21526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초당 수만 건 수집 완충: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높은 스파이크 발생 시에도 메시지 손실 없이 큐잉(Queueing)하는 완충 지대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2686050"/>
            <a:ext cx="133350" cy="133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8675" y="26479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초저지연 디커플링: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로그 생성부(모바일/Cloud Run)와 데이터 처리부(Dataflow) 간 결합도 최소화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3181350"/>
            <a:ext cx="133350" cy="133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8675" y="3143250"/>
            <a:ext cx="4514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글로벌 메시징: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사전 프로비저닝 없이 자동 스케일링되어 즉각적인 확장 가능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725" y="1609725"/>
            <a:ext cx="22860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19925" y="1485900"/>
            <a:ext cx="226028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Google Cloud Dataflow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2190750"/>
            <a:ext cx="133350" cy="133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57975" y="21526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Apache Beam 기반: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스트리밍 및 배치 데이터 처리를 단일 파이프라인으로 unified 처리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2686050"/>
            <a:ext cx="133350" cy="1333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57975" y="26479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실시간 변환 &amp; 필터링: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비정형 로그 파싱, 데이터 정형화, 이상 탐지 및 실시간 집계 수행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3181350"/>
            <a:ext cx="133350" cy="1333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57975" y="31432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자동 워커 스케일링: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처리할 데이터 양에 맞춰 컴퓨팅 워커 수를 노옵스(NoOps) 자동 조정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11430000" cy="7715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5762625"/>
            <a:ext cx="51244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5762625"/>
            <a:ext cx="5124450" cy="400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1466850"/>
            <a:ext cx="485775" cy="53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1000" y="1228725"/>
            <a:ext cx="5600700" cy="5172075"/>
          </a:xfrm>
          <a:prstGeom prst="roundRect">
            <a:avLst>
              <a:gd name="adj" fmla="val 2946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1228725"/>
            <a:ext cx="5600700" cy="5172075"/>
          </a:xfrm>
          <a:prstGeom prst="roundRect">
            <a:avLst>
              <a:gd name="adj" fmla="val 2946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000" y="381000"/>
            <a:ext cx="41814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0A5FA"/>
                </a:solidFill>
                <a:latin typeface="Inter"/>
              </a:rPr>
              <a:t>06. Analytics &amp; DW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647700"/>
            <a:ext cx="439054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실시간 분석 &amp; 데이터 웨어하우스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466850"/>
            <a:ext cx="4572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90625" y="1485900"/>
            <a:ext cx="159067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0A5FA"/>
                </a:solidFill>
                <a:latin typeface="Inter"/>
              </a:rPr>
              <a:t>Serverless Analytics DW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0" y="1485900"/>
            <a:ext cx="208597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BBF24"/>
                </a:solidFill>
                <a:latin typeface="Inter"/>
              </a:rPr>
              <a:t>Real-time Visualization &amp; BI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1609725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90625" y="1485900"/>
            <a:ext cx="167020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Google BigQuery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2190750"/>
            <a:ext cx="133350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8675" y="21526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Streaming Inserts: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Dataflow에서 전송된 행동 로그를 초당 수천 건 단위로 즉각 수신·저장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2686050"/>
            <a:ext cx="133350" cy="133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8675" y="26479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초고속 SQL 쿼리: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페타바이트급 데이터 세트에 대해 몇 초 만에 SQL 복합 분석 결과 산출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3181350"/>
            <a:ext cx="133350" cy="133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8675" y="31432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BigQuery ML 내장: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별도 ML 인프라 구축 없이 SQL 문법만으로 머신러닝 예측 모델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0" y="1485900"/>
            <a:ext cx="219027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FFFFFF"/>
                </a:solidFill>
                <a:latin typeface="Inter"/>
              </a:rPr>
              <a:t>Looker Studio / Looker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2190750"/>
            <a:ext cx="133350" cy="1333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57975" y="21526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실시간 대시보드: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BigQuery와 direct 연결하여 사용자 행동 지표, 유입률, 이벤트 반응 실시간 시각화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2686050"/>
            <a:ext cx="133350" cy="1333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57975" y="2647950"/>
            <a:ext cx="4914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운영 리포팅 자동화: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기획/마케팅 팀이 즉각 활용할 수 있는 자동 갱신 대시보드 제공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3181350"/>
            <a:ext cx="133350" cy="1333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57975" y="3143250"/>
            <a:ext cx="4610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권한 및 보안 제어: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GCP IAM 기반 연동으로 데이터 접근 권한을 안전하게 제어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975" y="1428750"/>
            <a:ext cx="419100" cy="4953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1000" y="1228725"/>
            <a:ext cx="3682900" cy="5172075"/>
          </a:xfrm>
          <a:prstGeom prst="roundRect">
            <a:avLst>
              <a:gd name="adj" fmla="val 3103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54400" y="1228725"/>
            <a:ext cx="3683049" cy="5172075"/>
          </a:xfrm>
          <a:prstGeom prst="roundRect">
            <a:avLst>
              <a:gd name="adj" fmla="val 3103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7950" y="1228725"/>
            <a:ext cx="3682900" cy="5172075"/>
          </a:xfrm>
          <a:prstGeom prst="roundRect">
            <a:avLst>
              <a:gd name="adj" fmla="val 3103"/>
            </a:avLst>
          </a:prstGeom>
          <a:solidFill>
            <a:srgbClr val="1E293B">
              <a:alpha val="90000"/>
            </a:srgbClr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381000"/>
            <a:ext cx="3857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0A5FA"/>
                </a:solidFill>
                <a:latin typeface="Inter"/>
              </a:rPr>
              <a:t>07. Security &amp; Operations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0" y="514350"/>
            <a:ext cx="28575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000" y="647700"/>
            <a:ext cx="405050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보안, 인증 및 관제 운영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6043612"/>
            <a:ext cx="328285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A5B4FC"/>
                </a:solidFill>
                <a:latin typeface="Inter"/>
              </a:rPr>
              <a:t>#인증_자동화 #보안_토큰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4425" y="6043612"/>
            <a:ext cx="3282999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FCA5A5"/>
                </a:solidFill>
                <a:latin typeface="Inter"/>
              </a:rPr>
              <a:t>#DDoS_방어 #Edge_보안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7975" y="6043612"/>
            <a:ext cx="328285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EE7B7"/>
                </a:solidFill>
                <a:latin typeface="Inter"/>
              </a:rPr>
              <a:t>#통합_관제 #NoOps_알림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428750"/>
            <a:ext cx="466725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2038350"/>
            <a:ext cx="344699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Inter"/>
              </a:rPr>
              <a:t>Identity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2381250"/>
            <a:ext cx="32828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Firebase Authentication 기반 서버리스 인증 서비스. OAuth, Email, SNS 소셜 로그인 연동 및 JWT 토큰 자동 발행 지원.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425" y="1428750"/>
            <a:ext cx="40005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54425" y="2038350"/>
            <a:ext cx="344714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Inter"/>
              </a:rPr>
              <a:t>Cloud Armor &amp; WAF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4425" y="2381250"/>
            <a:ext cx="328299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10배 트래픽 폭증 시 DDoS 공격 차단 및 OWASP Top 10 웹 보안 위협을 Edge 단에서 차단하여 백엔드 보호.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7975" y="2038350"/>
            <a:ext cx="344699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FFFFF"/>
                </a:solidFill>
                <a:latin typeface="Inter"/>
              </a:rPr>
              <a:t>Cloud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7975" y="2381250"/>
            <a:ext cx="32828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Cloud Logging &amp; Monitoring을 통한 전 구간 통합 관제. Latency 증가 및 에러 발생 시 자동 알림(Alert) 발송.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1581150"/>
            <a:ext cx="23812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725" y="1581150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1228725"/>
            <a:ext cx="5600700" cy="2471737"/>
          </a:xfrm>
          <a:prstGeom prst="roundRect">
            <a:avLst>
              <a:gd name="adj" fmla="val 4624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228725"/>
            <a:ext cx="5600700" cy="2471737"/>
          </a:xfrm>
          <a:prstGeom prst="roundRect">
            <a:avLst>
              <a:gd name="adj" fmla="val 4624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" y="3929062"/>
            <a:ext cx="5600700" cy="2471737"/>
          </a:xfrm>
          <a:prstGeom prst="roundRect">
            <a:avLst>
              <a:gd name="adj" fmla="val 4624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29062"/>
            <a:ext cx="5600700" cy="2471737"/>
          </a:xfrm>
          <a:prstGeom prst="roundRect">
            <a:avLst>
              <a:gd name="adj" fmla="val 4624"/>
            </a:avLst>
          </a:prstGeom>
          <a:solidFill>
            <a:srgbClr val="1E293B">
              <a:alpha val="80000"/>
            </a:srgbClr>
          </a:solidFill>
          <a:ln w="9525">
            <a:solidFill>
              <a:srgbClr val="334155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381000"/>
            <a:ext cx="3695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0A5FA"/>
                </a:solidFill>
                <a:latin typeface="Inter"/>
              </a:rPr>
              <a:t>08. Strategic Benefits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7150" y="514350"/>
            <a:ext cx="32385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000" y="647700"/>
            <a:ext cx="388048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FFFFFF"/>
                </a:solidFill>
                <a:latin typeface="Inter"/>
              </a:rPr>
              <a:t>아키텍처 도입 기대 효과 요약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28750"/>
            <a:ext cx="51435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428750"/>
            <a:ext cx="428625" cy="533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129087"/>
            <a:ext cx="457200" cy="533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4129087"/>
            <a:ext cx="485775" cy="533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1571625"/>
            <a:ext cx="28575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47775" y="1428750"/>
            <a:ext cx="476059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93C5FD"/>
                </a:solidFill>
                <a:latin typeface="Inter"/>
              </a:rPr>
              <a:t>운영 공수 최소화 (NoOps)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775" y="1733550"/>
            <a:ext cx="4533900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6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서버 관리, OS 패치, 용량 산정 작업이 불필요하여 최소 인력으로 모바일 앱 서비스 운영 가능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1571625"/>
            <a:ext cx="200025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91350" y="1428750"/>
            <a:ext cx="485060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FCD34D"/>
                </a:solidFill>
                <a:latin typeface="Inter"/>
              </a:rPr>
              <a:t>유연한 10배 오토스케일링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1350" y="1733550"/>
            <a:ext cx="4619625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6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이벤트 시 급격한 트래픽 유입 시에도 지연 없이 즉각적으로 컴퓨팅 및 데이터베이스 자동 확장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4271962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90625" y="4129087"/>
            <a:ext cx="482060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67E8F9"/>
                </a:solidFill>
                <a:latin typeface="Inter"/>
              </a:rPr>
              <a:t>초당 수천 건 실시간 데이터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0625" y="4433887"/>
            <a:ext cx="4591050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6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유실 없는 파이프라인으로 행동 데이터를 수집하고 즉각적인 비즈니스 인사이트 도출 가능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4625" y="4271962"/>
            <a:ext cx="257175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48500" y="4129087"/>
            <a:ext cx="479059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350" b="1" i="0" u="none">
                <a:solidFill>
                  <a:srgbClr val="6EE7B7"/>
                </a:solidFill>
                <a:latin typeface="Inter"/>
              </a:rPr>
              <a:t>TCO 절감 &amp; Scale-to-Zero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8500" y="4433887"/>
            <a:ext cx="4562475" cy="433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6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트래픽이 적은 평시에는 비용 발생을 극단적으로 줄이고, 사용한 리소스에만 과금하여 TCO 최적화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3619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0A5FA"/>
                </a:solidFill>
                <a:latin typeface="Inter"/>
              </a:rPr>
              <a:t>09. Appendix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0" y="514350"/>
            <a:ext cx="28575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00" y="647700"/>
            <a:ext cx="38004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 i="0" u="none">
                <a:solidFill>
                  <a:srgbClr val="FFFFFF"/>
                </a:solidFill>
                <a:latin typeface="Inter"/>
              </a:rPr>
              <a:t>이미지 및 아키텍처 다이어그램 출처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3414712"/>
            <a:ext cx="914400" cy="76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62125" y="3586162"/>
            <a:ext cx="5695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 i="0" u="none">
                <a:solidFill>
                  <a:srgbClr val="E2E8F0"/>
                </a:solidFill>
                <a:latin typeface="Inter"/>
              </a:rPr>
              <a:t>Source: </a:t>
            </a:r>
            <a:r>
              <a:rPr sz="1050" b="0" i="0" u="none">
                <a:solidFill>
                  <a:srgbClr val="60A5FA"/>
                </a:solidFill>
                <a:latin typeface="Inter"/>
                <a:hlinkClick r:id="rId4"/>
              </a:rPr>
              <a:t>Deploy a secured serverless architecture using Cloud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2125" y="3852862"/>
            <a:ext cx="5695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00" b="0" i="0" u="none">
                <a:solidFill>
                  <a:srgbClr val="60A5FA"/>
                </a:solidFill>
                <a:latin typeface="ui-monospace"/>
                <a:hlinkClick r:id="rId5"/>
              </a:rPr>
              <a:t>https://docs.cloud.google.com/static/architecture/blueprints/images/serverless-blueprint/serverless-blueprint-architecture.svg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